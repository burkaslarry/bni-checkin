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F172A"/>
                </a:solidFill>
              </a:defRPr>
            </a:pPr>
            <a:r>
              <a:t>EventXP</a:t>
            </a:r>
          </a:p>
          <a:p>
            <a:pPr>
              <a:spcBef>
                <a:spcPts val="1200"/>
              </a:spcBef>
              <a:defRPr sz="1800">
                <a:solidFill>
                  <a:srgbClr val="475569"/>
                </a:solidFill>
              </a:defRPr>
            </a:pPr>
            <a:r>
              <a:t>AI Community Growth Engine · Client Pitch</a:t>
            </a:r>
            <a:br/>
            <a:r>
              <a:t>InnovateXP Limited · https://innovatexp.co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234440"/>
            <a:ext cx="8229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E293B"/>
                </a:solidFill>
              </a:defRPr>
            </a:pPr>
            <a:r>
              <a:t>將「活動」變成可追蹤、可複製、可增長的社群資產。</a:t>
            </a:r>
          </a:p>
          <a:p>
            <a:pPr>
              <a:spcAft>
                <a:spcPts val="800"/>
              </a:spcAft>
              <a:defRPr sz="1500">
                <a:solidFill>
                  <a:srgbClr val="1E293B"/>
                </a:solidFill>
              </a:defRPr>
            </a:pPr>
            <a:r>
              <a:t>定位：社群增長 + 轉化（Leads / Retention / ROI），唔係只做報名。</a:t>
            </a:r>
          </a:p>
          <a:p>
            <a:pPr>
              <a:spcAft>
                <a:spcPts val="800"/>
              </a:spcAft>
              <a:defRPr sz="1500">
                <a:solidFill>
                  <a:srgbClr val="1E293B"/>
                </a:solidFill>
              </a:defRPr>
            </a:pPr>
            <a:r>
              <a:t>交付：平台整合 + AI 洞察 + 落地支援（現場 + 策略諮詢）。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痛點（Problems）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234440"/>
            <a:ext cx="8229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E293B"/>
                </a:solidFill>
              </a:defRPr>
            </a:pPr>
            <a:r>
              <a:t>活動後數據散、匯出慢、缺席/嘉賓狀態唔清晰。</a:t>
            </a:r>
          </a:p>
          <a:p>
            <a:pPr>
              <a:spcAft>
                <a:spcPts val="800"/>
              </a:spcAft>
              <a:defRPr sz="1500">
                <a:solidFill>
                  <a:srgbClr val="1E293B"/>
                </a:solidFill>
              </a:defRPr>
            </a:pPr>
            <a:r>
              <a:t>跟進無優先序：唔知邊啲人最值開 Conversation、邊啲會回流。</a:t>
            </a:r>
          </a:p>
          <a:p>
            <a:pPr>
              <a:spcAft>
                <a:spcPts val="800"/>
              </a:spcAft>
              <a:defRPr sz="1500">
                <a:solidFill>
                  <a:srgbClr val="1E293B"/>
                </a:solidFill>
              </a:defRPr>
            </a:pPr>
            <a:r>
              <a:t>ROI 難向董事局/贊助商證明：得出席，冇增長故事。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產品詳細介紹（Modules）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234440"/>
            <a:ext cx="8229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E293B"/>
                </a:solidFill>
              </a:defRPr>
            </a:pPr>
            <a:r>
              <a:t>Luma / 平台整合：名單同步、流程銜接（少改現有流程）。</a:t>
            </a:r>
          </a:p>
          <a:p>
            <a:pPr>
              <a:spcAft>
                <a:spcPts val="800"/>
              </a:spcAft>
              <a:defRPr sz="1500">
                <a:solidFill>
                  <a:srgbClr val="1E293B"/>
                </a:solidFill>
              </a:defRPr>
            </a:pPr>
            <a:r>
              <a:t>Smart Conversion List：高潛力 leads 自動整理，方便跟進。</a:t>
            </a:r>
          </a:p>
          <a:p>
            <a:pPr>
              <a:spcAft>
                <a:spcPts val="800"/>
              </a:spcAft>
              <a:defRPr sz="1500">
                <a:solidFill>
                  <a:srgbClr val="1E293B"/>
                </a:solidFill>
              </a:defRPr>
            </a:pPr>
            <a:r>
              <a:t>Retention Insights：回流與出席型態分析（數據累積後更準）。</a:t>
            </a:r>
          </a:p>
          <a:p>
            <a:pPr>
              <a:spcAft>
                <a:spcPts val="800"/>
              </a:spcAft>
              <a:defRPr sz="1500">
                <a:solidFill>
                  <a:srgbClr val="1E293B"/>
                </a:solidFill>
              </a:defRPr>
            </a:pPr>
            <a:r>
              <a:t>Reporting &amp; Export：即時出席、會員缺席、嘉賓；CSV 與營運對賬。</a:t>
            </a:r>
          </a:p>
          <a:p>
            <a:pPr>
              <a:spcAft>
                <a:spcPts val="800"/>
              </a:spcAft>
              <a:defRPr sz="1500">
                <a:solidFill>
                  <a:srgbClr val="1E293B"/>
                </a:solidFill>
              </a:defRPr>
            </a:pPr>
            <a:r>
              <a:t>Note：進階「關單率」建議以可選 CRM 整合表述，避免 overpromise。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定位（Positioning）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234440"/>
            <a:ext cx="8229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E293B"/>
                </a:solidFill>
              </a:defRPr>
            </a:pPr>
            <a:r>
              <a:t>專為專業社群 / 商務網絡：要增長、要轉化、要留存。</a:t>
            </a:r>
          </a:p>
          <a:p>
            <a:pPr>
              <a:spcAft>
                <a:spcPts val="800"/>
              </a:spcAft>
              <a:defRPr sz="1500">
                <a:solidFill>
                  <a:srgbClr val="1E293B"/>
                </a:solidFill>
              </a:defRPr>
            </a:pPr>
            <a:r>
              <a:t>唔係純票務平台：補足「執行」與「數據變現」之間嘅空白。</a:t>
            </a:r>
          </a:p>
          <a:p>
            <a:pPr>
              <a:spcAft>
                <a:spcPts val="800"/>
              </a:spcAft>
              <a:defRPr sz="1500">
                <a:solidFill>
                  <a:srgbClr val="1E293B"/>
                </a:solidFill>
              </a:defRPr>
            </a:pPr>
            <a:r>
              <a:t>中型社群高性價比方案：比單純工具多一層增長與落地。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成果與 KPI（What we measure）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234440"/>
            <a:ext cx="8229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E293B"/>
                </a:solidFill>
              </a:defRPr>
            </a:pPr>
            <a:r>
              <a:t>出席率、缺席、嘉賓到場與登記。</a:t>
            </a:r>
          </a:p>
          <a:p>
            <a:pPr>
              <a:spcAft>
                <a:spcPts val="800"/>
              </a:spcAft>
              <a:defRPr sz="1500">
                <a:solidFill>
                  <a:srgbClr val="1E293B"/>
                </a:solidFill>
              </a:defRPr>
            </a:pPr>
            <a:r>
              <a:t>回流/出席型態、邀請來源（視數據可用性）。</a:t>
            </a:r>
          </a:p>
          <a:p>
            <a:pPr>
              <a:spcAft>
                <a:spcPts val="800"/>
              </a:spcAft>
              <a:defRPr sz="1500">
                <a:solidFill>
                  <a:srgbClr val="1E293B"/>
                </a:solidFill>
              </a:defRPr>
            </a:pPr>
            <a:r>
              <a:t>轉化名單數量與跟進速度（Sales motion 可選）。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服務與上線（Delivery）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234440"/>
            <a:ext cx="8229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E293B"/>
                </a:solidFill>
              </a:defRPr>
            </a:pPr>
            <a:r>
              <a:t>Go-live：整合設定、測試、培訓與文件。</a:t>
            </a:r>
          </a:p>
          <a:p>
            <a:pPr>
              <a:spcAft>
                <a:spcPts val="800"/>
              </a:spcAft>
              <a:defRPr sz="1500">
                <a:solidFill>
                  <a:srgbClr val="1E293B"/>
                </a:solidFill>
              </a:defRPr>
            </a:pPr>
            <a:r>
              <a:t>現場支援：按套餐場次；確保活動日無斷線。</a:t>
            </a:r>
          </a:p>
          <a:p>
            <a:pPr>
              <a:spcAft>
                <a:spcPts val="800"/>
              </a:spcAft>
              <a:defRPr sz="1500">
                <a:solidFill>
                  <a:srgbClr val="1E293B"/>
                </a:solidFill>
              </a:defRPr>
            </a:pPr>
            <a:r>
              <a:t>策略諮詢：Starter/ Growth / Enterprise 分層。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建議定價（Suggest Pricing）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234440"/>
            <a:ext cx="8229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E293B"/>
                </a:solidFill>
              </a:defRPr>
            </a:pPr>
            <a:r>
              <a:t>一次性 Setup：約 HKD 14,000（整合 + 初始設定 + 文件/培訓）。</a:t>
            </a:r>
          </a:p>
          <a:p>
            <a:pPr>
              <a:spcAft>
                <a:spcPts val="800"/>
              </a:spcAft>
              <a:defRPr sz="1500">
                <a:solidFill>
                  <a:srgbClr val="1E293B"/>
                </a:solidFill>
              </a:defRPr>
            </a:pPr>
            <a:r>
              <a:t>Starter：HKD 1,480/月 — 1 社群；基本報告與匯出。</a:t>
            </a:r>
          </a:p>
          <a:p>
            <a:pPr>
              <a:spcAft>
                <a:spcPts val="800"/>
              </a:spcAft>
              <a:defRPr sz="1500">
                <a:solidFill>
                  <a:srgbClr val="1E293B"/>
                </a:solidFill>
              </a:defRPr>
            </a:pPr>
            <a:r>
              <a:t>Growth：HKD 1,980/月 — 2 社群；AI Insights + Leads；年內 2 次諮詢 + 3 場現場。</a:t>
            </a:r>
          </a:p>
          <a:p>
            <a:pPr>
              <a:spcAft>
                <a:spcPts val="800"/>
              </a:spcAft>
              <a:defRPr sz="1500">
                <a:solidFill>
                  <a:srgbClr val="1E293B"/>
                </a:solidFill>
              </a:defRPr>
            </a:pPr>
            <a:r>
              <a:t>Enterprise：HKD 2,480/月 起 — 4+ 社群；月諮詢 + 4 場現場；可選深度整合。</a:t>
            </a:r>
          </a:p>
          <a:p>
            <a:pPr>
              <a:spcAft>
                <a:spcPts val="800"/>
              </a:spcAft>
              <a:defRPr sz="1500">
                <a:solidFill>
                  <a:srgbClr val="1E293B"/>
                </a:solidFill>
              </a:defRPr>
            </a:pPr>
            <a:r>
              <a:t>預付：1 年 -10%；2 年 -20%（按現金流協定）。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Commission / Partner package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234440"/>
            <a:ext cx="8229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E293B"/>
                </a:solidFill>
              </a:defRPr>
            </a:pPr>
            <a:r>
              <a:t>Referral / Reseller：建議 25%（月費首 12 個月，或長期 15% 二選一）。</a:t>
            </a:r>
          </a:p>
          <a:p>
            <a:pPr>
              <a:spcAft>
                <a:spcPts val="800"/>
              </a:spcAft>
              <a:defRPr sz="1500">
                <a:solidFill>
                  <a:srgbClr val="1E293B"/>
                </a:solidFill>
              </a:defRPr>
            </a:pPr>
            <a:r>
              <a:t>一次性 Setup：可設 10%–15%（視伙伴參與度）。</a:t>
            </a:r>
          </a:p>
          <a:p>
            <a:pPr>
              <a:spcAft>
                <a:spcPts val="800"/>
              </a:spcAft>
              <a:defRPr sz="1500">
                <a:solidFill>
                  <a:srgbClr val="1E293B"/>
                </a:solidFill>
              </a:defRPr>
            </a:pPr>
            <a:r>
              <a:t>條款：付款成功計佣；退款回撈；分工：引薦 vs closing vs 交付可寫明。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SWOT（高層摘要）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234440"/>
            <a:ext cx="8229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E293B"/>
                </a:solidFill>
              </a:defRPr>
            </a:pPr>
            <a:r>
              <a:t>S：AI+營運一體化；整合現有平台；落地支援強。</a:t>
            </a:r>
          </a:p>
          <a:p>
            <a:pPr>
              <a:spcAft>
                <a:spcPts val="800"/>
              </a:spcAft>
              <a:defRPr sz="1500">
                <a:solidFill>
                  <a:srgbClr val="1E293B"/>
                </a:solidFill>
              </a:defRPr>
            </a:pPr>
            <a:r>
              <a:t>W：第三方 API 依賴；AI 需數據累積期。</a:t>
            </a:r>
          </a:p>
          <a:p>
            <a:pPr>
              <a:spcAft>
                <a:spcPts val="800"/>
              </a:spcAft>
              <a:defRPr sz="1500">
                <a:solidFill>
                  <a:srgbClr val="1E293B"/>
                </a:solidFill>
              </a:defRPr>
            </a:pPr>
            <a:r>
              <a:t>O：專業社群數據化；中型市場缺「增長工具」；伙伴網絡擴張。</a:t>
            </a:r>
          </a:p>
          <a:p>
            <a:pPr>
              <a:spcAft>
                <a:spcPts val="800"/>
              </a:spcAft>
              <a:defRPr sz="1500">
                <a:solidFill>
                  <a:srgbClr val="1E293B"/>
                </a:solidFill>
              </a:defRPr>
            </a:pPr>
            <a:r>
              <a:t>T：競品插件；活動預算波動；PDPO/私隱合規成本上升。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Why EventXP？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234440"/>
            <a:ext cx="8229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E293B"/>
                </a:solidFill>
              </a:defRPr>
            </a:pPr>
            <a:r>
              <a:t>由「搞掂活動」升級到「搞掂增長」：邊個值得跟進、點樣提升回流。</a:t>
            </a:r>
          </a:p>
          <a:p>
            <a:pPr>
              <a:spcAft>
                <a:spcPts val="800"/>
              </a:spcAft>
              <a:defRPr sz="1500">
                <a:solidFill>
                  <a:srgbClr val="1E293B"/>
                </a:solidFill>
              </a:defRPr>
            </a:pPr>
            <a:r>
              <a:t>唔使大改流程：係 upgrade，唔係 replace。</a:t>
            </a:r>
          </a:p>
          <a:p>
            <a:pPr>
              <a:spcAft>
                <a:spcPts val="800"/>
              </a:spcAft>
              <a:defRPr sz="1500">
                <a:solidFill>
                  <a:srgbClr val="1E293B"/>
                </a:solidFill>
              </a:defRPr>
            </a:pPr>
            <a:r>
              <a:t>現場 + 策略：確保用得成，唔係買完唔用。</a:t>
            </a:r>
          </a:p>
          <a:p>
            <a:pPr>
              <a:spcAft>
                <a:spcPts val="800"/>
              </a:spcAft>
              <a:defRPr sz="1500">
                <a:solidFill>
                  <a:srgbClr val="1E293B"/>
                </a:solidFill>
              </a:defRPr>
            </a:pPr>
            <a:r>
              <a:t>共贏：伙伴分潤，一齊放大影響力。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03504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Contact: https://innovatexp.co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Next steps（CTA）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234440"/>
            <a:ext cx="8229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E293B"/>
                </a:solidFill>
              </a:defRPr>
            </a:pPr>
            <a:r>
              <a:t>確認範圍：社群數量、平台（如 Luma）、場次與合规要求。</a:t>
            </a:r>
          </a:p>
          <a:p>
            <a:pPr>
              <a:spcAft>
                <a:spcPts val="800"/>
              </a:spcAft>
              <a:defRPr sz="1500">
                <a:solidFill>
                  <a:srgbClr val="1E293B"/>
                </a:solidFill>
              </a:defRPr>
            </a:pPr>
            <a:r>
              <a:t>簽署報價 / SOW → 開通整合 → UAT → Go-live。</a:t>
            </a:r>
          </a:p>
          <a:p>
            <a:pPr>
              <a:spcAft>
                <a:spcPts val="800"/>
              </a:spcAft>
              <a:defRPr sz="1500">
                <a:solidFill>
                  <a:srgbClr val="1E293B"/>
                </a:solidFill>
              </a:defRPr>
            </a:pPr>
            <a:r>
              <a:t>聯絡我們：innovatexp.co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